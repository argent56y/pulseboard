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472815c104c62" /><Relationship Type="http://schemas.openxmlformats.org/officeDocument/2006/relationships/extended-properties" Target="/docProps/app.xml" Id="R127af51b5cda45f7" /><Relationship Type="http://schemas.openxmlformats.org/officeDocument/2006/relationships/officeDocument" Target="/ppt/presentation.xml" Id="Racfa5b77adf3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cd07524008436b"/>
  </p:sldMasterIdLst>
  <p:notesMasterIdLst>
    <p:notesMasterId xmlns:r="http://schemas.openxmlformats.org/officeDocument/2006/relationships" r:id="Re22fa0f8b1634e9c"/>
  </p:notesMasterIdLst>
  <p:sldIdLst>
    <p:sldId xmlns:r="http://schemas.openxmlformats.org/officeDocument/2006/relationships" id="256" r:id="Rdffa9a6d58fd434a"/>
    <p:sldId xmlns:r="http://schemas.openxmlformats.org/officeDocument/2006/relationships" id="257" r:id="Rdd463ba680584f03"/>
    <p:sldId xmlns:r="http://schemas.openxmlformats.org/officeDocument/2006/relationships" id="258" r:id="Rf1587042fb604ace"/>
    <p:sldId xmlns:r="http://schemas.openxmlformats.org/officeDocument/2006/relationships" id="259" r:id="R21ee4db942ea4b55"/>
    <p:sldId xmlns:r="http://schemas.openxmlformats.org/officeDocument/2006/relationships" id="260" r:id="R2500fd8750054eac"/>
    <p:sldId xmlns:r="http://schemas.openxmlformats.org/officeDocument/2006/relationships" id="261" r:id="Rf7e9245b856a4897"/>
    <p:sldId xmlns:r="http://schemas.openxmlformats.org/officeDocument/2006/relationships" id="262" r:id="Rb80c7e4ac46240b8"/>
    <p:sldId xmlns:r="http://schemas.openxmlformats.org/officeDocument/2006/relationships" id="263" r:id="R3d282d692ec14cb4"/>
    <p:sldId xmlns:r="http://schemas.openxmlformats.org/officeDocument/2006/relationships" id="264" r:id="Raa7e9acf801143da"/>
    <p:sldId xmlns:r="http://schemas.openxmlformats.org/officeDocument/2006/relationships" id="265" r:id="R8deeedaf4be54b53"/>
    <p:sldId xmlns:r="http://schemas.openxmlformats.org/officeDocument/2006/relationships" id="266" r:id="R35903f09da2d4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66f47107448a7" /><Relationship Type="http://schemas.openxmlformats.org/officeDocument/2006/relationships/slideMaster" Target="/ppt/slideMasters/slideMaster1.xml" Id="Reccd07524008436b" /><Relationship Type="http://schemas.openxmlformats.org/officeDocument/2006/relationships/notesMaster" Target="/ppt/notesMasters/notesMaster1.xml" Id="Re22fa0f8b1634e9c" /><Relationship Type="http://schemas.openxmlformats.org/officeDocument/2006/relationships/presProps" Target="/ppt/presProps.xml" Id="R32fc08c0380c4c0d" /><Relationship Type="http://schemas.openxmlformats.org/officeDocument/2006/relationships/tableStyles" Target="/ppt/tableStyles.xml" Id="Rab73788cc2b24d5e" /><Relationship Type="http://schemas.openxmlformats.org/officeDocument/2006/relationships/slide" Target="/ppt/slides/slide1.xml" Id="Rdffa9a6d58fd434a" /><Relationship Type="http://schemas.openxmlformats.org/officeDocument/2006/relationships/slide" Target="/ppt/slides/slide2.xml" Id="Rdd463ba680584f03" /><Relationship Type="http://schemas.openxmlformats.org/officeDocument/2006/relationships/slide" Target="/ppt/slides/slide3.xml" Id="Rf1587042fb604ace" /><Relationship Type="http://schemas.openxmlformats.org/officeDocument/2006/relationships/slide" Target="/ppt/slides/slide4.xml" Id="R21ee4db942ea4b55" /><Relationship Type="http://schemas.openxmlformats.org/officeDocument/2006/relationships/slide" Target="/ppt/slides/slide5.xml" Id="R2500fd8750054eac" /><Relationship Type="http://schemas.openxmlformats.org/officeDocument/2006/relationships/slide" Target="/ppt/slides/slide6.xml" Id="Rf7e9245b856a4897" /><Relationship Type="http://schemas.openxmlformats.org/officeDocument/2006/relationships/slide" Target="/ppt/slides/slide7.xml" Id="Rb80c7e4ac46240b8" /><Relationship Type="http://schemas.openxmlformats.org/officeDocument/2006/relationships/slide" Target="/ppt/slides/slide8.xml" Id="R3d282d692ec14cb4" /><Relationship Type="http://schemas.openxmlformats.org/officeDocument/2006/relationships/slide" Target="/ppt/slides/slide9.xml" Id="Raa7e9acf801143da" /><Relationship Type="http://schemas.openxmlformats.org/officeDocument/2006/relationships/slide" Target="/ppt/slides/slide10.xml" Id="R8deeedaf4be54b53" /><Relationship Type="http://schemas.openxmlformats.org/officeDocument/2006/relationships/slide" Target="/ppt/slides/slide11.xml" Id="R35903f09da2d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4f6698cdd46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aa518486a64236" /><Relationship Type="http://schemas.openxmlformats.org/officeDocument/2006/relationships/notesMaster" Target="/ppt/notesMasters/notesMaster1.xml" Id="Rbb719261d61e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2f90c3f9a4c27" /><Relationship Type="http://schemas.openxmlformats.org/officeDocument/2006/relationships/notesMaster" Target="/ppt/notesMasters/notesMaster1.xml" Id="R2691e81a72144c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90f2347274724" /><Relationship Type="http://schemas.openxmlformats.org/officeDocument/2006/relationships/notesMaster" Target="/ppt/notesMasters/notesMaster1.xml" Id="Red26a1e69d134f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29dcbf1aae4485" /><Relationship Type="http://schemas.openxmlformats.org/officeDocument/2006/relationships/notesMaster" Target="/ppt/notesMasters/notesMaster1.xml" Id="R070309c4d3d84e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3ec76529e4b6c" /><Relationship Type="http://schemas.openxmlformats.org/officeDocument/2006/relationships/notesMaster" Target="/ppt/notesMasters/notesMaster1.xml" Id="Reddc114303bb41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947f80e4404f50" /><Relationship Type="http://schemas.openxmlformats.org/officeDocument/2006/relationships/notesMaster" Target="/ppt/notesMasters/notesMaster1.xml" Id="R19cb6538301e46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38b020e11a4c7f" /><Relationship Type="http://schemas.openxmlformats.org/officeDocument/2006/relationships/notesMaster" Target="/ppt/notesMasters/notesMaster1.xml" Id="R25d87a8114534e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0b5f468e3d4e6c" /><Relationship Type="http://schemas.openxmlformats.org/officeDocument/2006/relationships/notesMaster" Target="/ppt/notesMasters/notesMaster1.xml" Id="R566efe16bf9846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4cdd5b0df14980" /><Relationship Type="http://schemas.openxmlformats.org/officeDocument/2006/relationships/notesMaster" Target="/ppt/notesMasters/notesMaster1.xml" Id="R72120c34074445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930840e66041c3" /><Relationship Type="http://schemas.openxmlformats.org/officeDocument/2006/relationships/notesMaster" Target="/ppt/notesMasters/notesMaster1.xml" Id="R45745aa284804a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6615306536400b" /><Relationship Type="http://schemas.openxmlformats.org/officeDocument/2006/relationships/notesMaster" Target="/ppt/notesMasters/notesMaster1.xml" Id="Rac29ebfcf9874f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Проект: Pulseboard</a:t>
            </a:r>
          </a:p>
          <a:p xmlns:a="http://schemas.openxmlformats.org/drawingml/2006/main">
            <a:r>
              <a:t>Автор: Козел Арсений Михайлович, БГТУ, 2 курс</a:t>
            </a:r>
          </a:p>
          <a:p xmlns:a="http://schemas.openxmlformats.org/drawingml/2006/main">
            <a:r>
              <a:t>Telegram: https://t.me/Babushkaspa</a:t>
            </a:r>
          </a:p>
          <a:p xmlns:a="http://schemas.openxmlformats.org/drawingml/2006/main">
            <a:r>
              <a:t>MVP: https://pulseboard.sevadeva.tech/ru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Productboard, Product Excellence Report 2022.</a:t>
            </a:r>
          </a:p>
          <a:p xmlns:a="http://schemas.openxmlformats.org/drawingml/2006/main">
            <a:r>
              <a:t>https://www.productboard.com/wp-content/uploads/2022/11/2022_PE-Report.pdf</a:t>
            </a:r>
          </a:p>
          <a:p xmlns:a="http://schemas.openxmlformats.org/drawingml/2006/main">
            <a:r>
              <a:t>Показатель 12% относится к исследованию 2022 года и используется как внешний ориентир, а не как текущая рыночная метрика Pulseboard.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данные на скриншоте являются вымышленными демонстрационными данными.</a:t>
            </a:r>
          </a:p>
          <a:p xmlns:a="http://schemas.openxmlformats.org/drawingml/2006/main">
            <a:r>
              <a:t>Логика MVP: feedback -&gt; AI suggestion -&gt; founder confirmation -&gt; theme -&gt; roadmap -&gt; changelog.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Скриншот: работающая русская демо-версия Pulseboard.</a:t>
            </a:r>
          </a:p>
          <a:p xmlns:a="http://schemas.openxmlformats.org/drawingml/2006/main">
            <a:r>
              <a:t>https://pulseboard.sevadeva.tech/ru/demo/app/map</a:t>
            </a:r>
          </a:p>
          <a:p xmlns:a="http://schemas.openxmlformats.org/drawingml/2006/main">
            <a:r>
              <a:t>Пунктир обозначает AI suggestion. Сплошная линия обозначает подтверждённую founder-ом связь.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Canny: https://canny.io/use-cases/customer-feedback</a:t>
            </a:r>
          </a:p>
          <a:p xmlns:a="http://schemas.openxmlformats.org/drawingml/2006/main">
            <a:r>
              <a:t>Productboard: https://www.productboard.com/use-cases/customer-insights/</a:t>
            </a:r>
          </a:p>
          <a:p xmlns:a="http://schemas.openxmlformats.org/drawingml/2006/main">
            <a:r>
              <a:t>100K+ и 6,000+ не складываются: компании могут пересекаться. Цель 500 workspace является гипотезой, равной 0,5% от benchmark 100K.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Canny Autopilot: https://canny.io/features/autopilot</a:t>
            </a:r>
          </a:p>
          <a:p xmlns:a="http://schemas.openxmlformats.org/drawingml/2006/main">
            <a:r>
              <a:t>Productboard insights: https://support.productboard.com/hc/en-us/articles/10071375851155-Review-an-item-s-insights</a:t>
            </a:r>
          </a:p>
          <a:p xmlns:a="http://schemas.openxmlformats.org/drawingml/2006/main">
            <a:r>
              <a:t>Linear Customer Requests: https://linear.app/docs/customer-requests</a:t>
            </a:r>
          </a:p>
          <a:p xmlns:a="http://schemas.openxmlformats.org/drawingml/2006/main">
            <a:r>
              <a:t>UserVoice pricing/features: https://uservoice.com/pricing</a:t>
            </a:r>
          </a:p>
          <a:p xmlns:a="http://schemas.openxmlformats.org/drawingml/2006/main">
            <a:r>
              <a:t>Таблица отражает публично заявленные функции. Значение «Не заявлено» означает, что функция не подтверждена использованной официальной страницей.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Работающий MVP: https://pulseboard.sevadeva.tech/ru</a:t>
            </a:r>
          </a:p>
          <a:p xmlns:a="http://schemas.openxmlformats.org/drawingml/2006/main">
            <a:r>
              <a:t>Read-only demo: https://pulseboard.sevadeva.tech/ru/demo</a:t>
            </a:r>
          </a:p>
          <a:p xmlns:a="http://schemas.openxmlformats.org/drawingml/2006/main">
            <a:r>
              <a:t>Все demo/sample data являются вымышленными. У проекта пока нет реальных пользователей и выручки.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тарифы Pulseboard являются гипотезой для проверки на пилотах.</a:t>
            </a:r>
          </a:p>
          <a:p xmlns:a="http://schemas.openxmlformats.org/drawingml/2006/main">
            <a:r>
              <a:t>Canny pricing, проверено в сентябре 2026: https://canny.io/pricing</a:t>
            </a:r>
          </a:p>
          <a:p xmlns:a="http://schemas.openxmlformats.org/drawingml/2006/main">
            <a:r>
              <a:t>На официальной странице Canny Pro указан от $79 в месяц при годовой оплате.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Финансовая модель предварительная и не является прогнозом или подтверждённым планом.</a:t>
            </a:r>
          </a:p>
          <a:p xmlns:a="http://schemas.openxmlformats.org/drawingml/2006/main">
            <a:r>
              <a:t>Год 1: 30 * $19 * 12 = $6,840 ARR; $6,840 - $5,000 = $1,840.</a:t>
            </a:r>
          </a:p>
          <a:p xmlns:a="http://schemas.openxmlformats.org/drawingml/2006/main">
            <a:r>
              <a:t>Год 2: 150 * $25 * 12 = $45,000 ARR; $45,000 - $36,000 = $9,000.</a:t>
            </a:r>
          </a:p>
          <a:p xmlns:a="http://schemas.openxmlformats.org/drawingml/2006/main">
            <a:r>
              <a:t>Год 3: 500 * $29 * 12 = $174,000 ARR; $174,000 - $132,000 = $42,000.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является планом проверки гипотез, а не обещанием результата.</a:t>
            </a:r>
          </a:p>
          <a:p xmlns:a="http://schemas.openxmlformats.org/drawingml/2006/main">
            <a:r>
              <a:t>Ближайшая цель: 10-15 интервью и 3 бесплатных пилота в октябре-ноябре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Автор: Козел Арсений Михайлович</a:t>
            </a:r>
          </a:p>
          <a:p xmlns:a="http://schemas.openxmlformats.org/drawingml/2006/main">
            <a:r>
              <a:t>БГТУ, 2 курс</a:t>
            </a:r>
          </a:p>
          <a:p xmlns:a="http://schemas.openxmlformats.org/drawingml/2006/main">
            <a:r>
              <a:t>Telegram: https://t.me/Babushkaspa</a:t>
            </a:r>
          </a:p>
          <a:p xmlns:a="http://schemas.openxmlformats.org/drawingml/2006/main">
            <a:r>
              <a:t>Работающий MVP: https://pulseboard.sevadeva.tech/ru</a:t>
            </a:r>
          </a:p>
          <a:p xmlns:a="http://schemas.openxmlformats.org/drawingml/2006/main">
            <a:r>
              <a:t>Цель участия: экспертная обратная связь, три пилотные команды и проверка готовности founders платить.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ff6d33b13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9a95f11a4b4f05" /><Relationship Type="http://schemas.openxmlformats.org/officeDocument/2006/relationships/slideLayout" Target="/ppt/slideLayouts/slideLayout1.xml" Id="R2007ebe6c46d45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7ebe6c46d45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ace5bfed54457" /><Relationship Type="http://schemas.openxmlformats.org/officeDocument/2006/relationships/image" Target="/ppt/media/image.png" Id="R6ceb900186e04df0" /><Relationship Type="http://schemas.openxmlformats.org/officeDocument/2006/relationships/notesSlide" Target="/ppt/notesSlides/notesSlide1.xml" Id="Raf28a46f38724b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379745de740a0" /><Relationship Type="http://schemas.openxmlformats.org/officeDocument/2006/relationships/notesSlide" Target="/ppt/notesSlides/notesSlide2.xml" Id="R858eb5a14499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dd683c25743e2" /><Relationship Type="http://schemas.openxmlformats.org/officeDocument/2006/relationships/image" Target="/ppt/media/image2.png" Id="Rde1ffa27c7ba4bc7" /><Relationship Type="http://schemas.openxmlformats.org/officeDocument/2006/relationships/notesSlide" Target="/ppt/notesSlides/notesSlide3.xml" Id="R3fc93a27598143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a412c15c74bd4" /><Relationship Type="http://schemas.openxmlformats.org/officeDocument/2006/relationships/image" Target="/ppt/media/image3.png" Id="R1cc785b07761400b" /><Relationship Type="http://schemas.openxmlformats.org/officeDocument/2006/relationships/notesSlide" Target="/ppt/notesSlides/notesSlide4.xml" Id="Rab08ffa5dd7146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8d3642473468b" /><Relationship Type="http://schemas.openxmlformats.org/officeDocument/2006/relationships/notesSlide" Target="/ppt/notesSlides/notesSlide5.xml" Id="R640448bfd0d249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8c146b3f74f15" /><Relationship Type="http://schemas.openxmlformats.org/officeDocument/2006/relationships/notesSlide" Target="/ppt/notesSlides/notesSlide6.xml" Id="Re538201c7a4645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0360a714a4781" /><Relationship Type="http://schemas.openxmlformats.org/officeDocument/2006/relationships/image" Target="/ppt/media/image4.png" Id="R8266036806fa49f4" /><Relationship Type="http://schemas.openxmlformats.org/officeDocument/2006/relationships/notesSlide" Target="/ppt/notesSlides/notesSlide7.xml" Id="R3b5be688bca24c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fdd1761734973" /><Relationship Type="http://schemas.openxmlformats.org/officeDocument/2006/relationships/notesSlide" Target="/ppt/notesSlides/notesSlide8.xml" Id="R2264d00c228648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3405fb42f4d6a" /><Relationship Type="http://schemas.openxmlformats.org/officeDocument/2006/relationships/chart" Target="/ppt/slides/charts/chart1.xml" Id="R9fa64a5622a14bdc" /><Relationship Type="http://schemas.openxmlformats.org/officeDocument/2006/relationships/notesSlide" Target="/ppt/notesSlides/notesSlide9.xml" Id="Rd09d4640af1044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a63d9d3ad43c2" /><Relationship Type="http://schemas.openxmlformats.org/officeDocument/2006/relationships/notesSlide" Target="/ppt/notesSlides/notesSlide10.xml" Id="R57b8c918af2248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2222000a4d88" /><Relationship Type="http://schemas.openxmlformats.org/officeDocument/2006/relationships/notesSlide" Target="/ppt/notesSlides/notesSlide11.xml" Id="R0aa86232e38645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ARR, $</c:v>
          </c:tx>
          <c:spPr>
            <a:solidFill xmlns:a="http://schemas.openxmlformats.org/drawingml/2006/main">
              <a:srgbClr val="F2C94C"/>
            </a:solidFill>
          </c:spPr>
          <c:cat>
            <c:strRef>
              <c:f>'Chart Data'!$A$2:$A$4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'Chart Data'!$B$2:$B$4</c:f>
              <c:numCache>
                <c:formatCode>$#,##0</c:formatCode>
                <c:ptCount val="3"/>
                <c:pt idx="0">
                  <c:v>6840</c:v>
                </c:pt>
                <c:pt idx="1">
                  <c:v>45000</c:v>
                </c:pt>
                <c:pt idx="2">
                  <c:v>174000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1EEE7"/>
                  </a:solidFill>
                  <a:latin typeface="Geist Sans"/>
                  <a:ea typeface="Geist Sans"/>
                  <a:cs typeface="Geist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6515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465158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46515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202529"/>
        </a:solidFill>
        <a:ln xmlns:a="http://schemas.openxmlformats.org/drawingml/2006/main" w="0">
          <a:solidFill>
            <a:srgbClr val="202529"/>
          </a:solidFill>
        </a:ln>
      </c:spPr>
    </c:plotArea>
    <c:plotVisOnly val="1"/>
  </c:chart>
  <c:spPr>
    <a:solidFill xmlns:a="http://schemas.openxmlformats.org/drawingml/2006/main">
      <a:srgbClr val="202529"/>
    </a:solidFill>
    <a:ln xmlns:a="http://schemas.openxmlformats.org/drawingml/2006/main" w="0">
      <a:solidFill>
        <a:srgbClr val="202529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A729-4CBD-438B-B571-2AF27C9C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PULSEBOARD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70E7A-27C9-49A7-9372-C1BFDB7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49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Pulseboard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76AB4-B207-478E-8D0B-563A74F1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875" b="0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Разрозненные отзывы становятся темами, roadmap и понятными публичными обновлениями.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D710-344D-4E66-B91A-946F126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Козел Арсений Михайлович</a:t>
            </a:r>
          </a:p>
          <a:p xmlns:a="http://schemas.openxmlformats.org/drawingml/2006/main">
            <a:pPr algn="l">
              <a:def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БГТУ, 2 курс</a:t>
            </a:r>
          </a:p>
          <a:p xmlns:a="http://schemas.openxmlformats.org/drawingml/2006/main">
            <a:pPr algn="l">
              <a:def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Автор проекта и full-stack разработчик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EDCF-A7A0-49FF-9C45-B21F83A1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94C"/>
                </a:solidFill>
                <a:latin typeface="Geist Mono"/>
                <a:ea typeface="Geist Mono"/>
                <a:cs typeface="Geist Mono"/>
              </a:defRPr>
            </a:pPr>
            <a:r>
              <a:rPr sz="1200" b="1">
                <a:solidFill>
                  <a:srgbClr val="F2C94C"/>
                </a:solidFill>
                <a:latin typeface="Geist Mono"/>
                <a:ea typeface="Geist Mono"/>
                <a:cs typeface="Geist Mono"/>
              </a:rPr>
              <a:t>@Babushkaspa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70D76-6DAD-4843-A63D-973D2B6D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7700"/>
            <a:ext cx="6419850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30383E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b900186e04df0"/>
          <a:srcRect xmlns:a="http://schemas.openxmlformats.org/drawingml/2006/main" l="11178" t="0" r="11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781050"/>
            <a:ext cx="615315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6BCCD-00EA-45C1-A12B-0C59C7EF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7B99A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87B99A"/>
                </a:solidFill>
                <a:latin typeface="Geist Mono"/>
                <a:ea typeface="Geist Mono"/>
                <a:cs typeface="Geist Mono"/>
              </a:rPr>
              <a:t>РАБОТАЮЩИЙ SOLO-MVP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E8F22-03BD-493D-8AA0-9BD48CF9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34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pulseboard.sevadeva.tech/ru</a:t>
            </a:r>
          </a:p>
        </p:txBody>
      </p:sp>
    </p:spTree>
    <p:extLst>
      <p:ext uri="{BB962C8B-B14F-4D97-AF65-F5344CB8AC3E}">
        <p14:creationId xmlns:p14="http://schemas.microsoft.com/office/powerpoint/2010/main" val="512261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A23DD-1B3D-4236-A1C6-7F58F64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C9ED2-F5D0-41A6-96F0-E50C869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Отзывы есть. Связи с решениями 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CC6B7-5646-4F98-9D25-C0C02DA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Почта, поддержка и интервью сохраняют слова клиента, но не общий контекст.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8559E-B2A0-43D7-9653-8A5EE38C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A179B-0462-4534-8194-4CAA624B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95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2C94C"/>
                </a:solidFill>
                <a:latin typeface="Geist Sans"/>
                <a:ea typeface="Geist Sans"/>
                <a:cs typeface="Geist Sans"/>
              </a:defRPr>
            </a:pPr>
            <a:r>
              <a:rPr sz="5250" b="1">
                <a:solidFill>
                  <a:srgbClr val="F2C94C"/>
                </a:solidFill>
                <a:latin typeface="Geist Sans"/>
                <a:ea typeface="Geist Sans"/>
                <a:cs typeface="Geist Sans"/>
              </a:rPr>
              <a:t>12%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628A3-AD6A-4A87-9D74-248D893F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0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участников исследования Productboard в 2022 году сообщили, что успешно собирают insights из всех доступных источников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8F47B-95F8-4182-A43D-6D33129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2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Даже собранный отзыв часто теряет путь к принятому приоритету и выпущенной функции.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5F803-E4CB-4A9A-8A14-6741CD8E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3241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30383E"/>
          </a:solidFill>
          <a:ln xmlns:a="http://schemas.openxmlformats.org/drawingml/2006/main" w="9525">
            <a:solidFill>
              <a:srgbClr val="AFC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57819-4ED6-40EC-91D3-7EF2E694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87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Решение без</a:t>
            </a:r>
          </a:p>
          <a:p xmlns:a="http://schemas.openxmlformats.org/drawingml/2006/main">
            <a:pPr algn="ctr">
              <a:defRPr sz="187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87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объяснения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F660E-2704-497A-96DD-BE63C498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5CF12-E793-4CB5-A9E1-E89FCB2B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Почта</a:t>
            </a:r>
          </a:p>
        </p:txBody>
      </p: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210300" y="1933575"/>
            <a:ext cx="2724150" cy="1504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718087"/>
            </a:solidFill>
            <a:prstDash val="dash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1D3A8-2235-4A01-BD9E-AAA28A0D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285A1-076D-490C-9209-90CB176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Поддержка</a:t>
            </a:r>
          </a:p>
        </p:txBody>
      </p: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210300" y="2847975"/>
            <a:ext cx="2724150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718087"/>
            </a:solidFill>
            <a:prstDash val="dash"/>
            <a:head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42E0E-5F00-4FD7-A2CC-0304FD3A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9FE56-D3D2-4CC7-919C-A710C151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Интервью</a:t>
            </a:r>
          </a:p>
        </p:txBody>
      </p: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210300" y="3438525"/>
            <a:ext cx="272415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718087"/>
            </a:solidFill>
            <a:prstDash val="dash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EEA2F-DE6D-4871-A48C-89C347C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E0600-27A7-4D71-B8A0-F056E61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2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Таблицы</a:t>
            </a:r>
          </a:p>
        </p:txBody>
      </p:sp>
      <p:cxnSp>
        <p:nvCxnSpPr>
          <p:cNvPr id="45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210300" y="3438525"/>
            <a:ext cx="27241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718087"/>
            </a:solidFill>
            <a:prstDash val="dash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D4D38-E4FB-42FD-B702-5A777C10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12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Контекст теряется между каналом и приоритетом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6FB04-27CA-42A8-96DA-36696249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Источник: Productboard, Product Excellence Report 2022, стр. 16-18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6FFCF-7148-464A-B421-0610FD9B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115531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0C407-2660-4411-BB26-4AD7D0E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D23BD-EAA3-452E-98C9-3AB7C497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Как работает Pulseboard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475F9-41DE-431B-A0E2-C7B89C9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AI предлагает связи. Founder проверяет их перед тем, как они влияют на roadmap.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B006-8DF7-4F63-8833-DB0D5145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EA670-CFF5-42DC-BD38-CF8B5BB7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55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81579-93E0-4818-9D65-CCF34C5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24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7AC"/>
                </a:solidFill>
                <a:latin typeface="Geist Mono"/>
                <a:ea typeface="Geist Mono"/>
                <a:cs typeface="Geist Mono"/>
              </a:defRPr>
            </a:pPr>
            <a:r>
              <a:rPr sz="975" b="0">
                <a:solidFill>
                  <a:srgbClr val="9AA7AC"/>
                </a:solidFill>
                <a:latin typeface="Geist Mono"/>
                <a:ea typeface="Geist Mono"/>
                <a:cs typeface="Geist Mono"/>
              </a:rPr>
              <a:t>01  Публичный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116EB-A59E-4014-AE88-66CBE5F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36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18087"/>
                </a:solidFill>
                <a:latin typeface="Geist Sans"/>
                <a:ea typeface="Geist Sans"/>
                <a:cs typeface="Geist Sans"/>
              </a:defRPr>
            </a:pPr>
            <a:r>
              <a:rPr sz="1350" b="0">
                <a:solidFill>
                  <a:srgbClr val="718087"/>
                </a:solidFill>
                <a:latin typeface="Geist Sans"/>
                <a:ea typeface="Geist Sans"/>
                <a:cs typeface="Geist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29167-8B6E-4E14-8C95-59C73853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352550"/>
            <a:ext cx="24955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F6760-49E8-40BB-A858-FBDDD9C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24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7AC"/>
                </a:solidFill>
                <a:latin typeface="Geist Mono"/>
                <a:ea typeface="Geist Mono"/>
                <a:cs typeface="Geist Mono"/>
              </a:defRPr>
            </a:pPr>
            <a:r>
              <a:rPr sz="975" b="0">
                <a:solidFill>
                  <a:srgbClr val="9AA7AC"/>
                </a:solidFill>
                <a:latin typeface="Geist Mono"/>
                <a:ea typeface="Geist Mono"/>
                <a:cs typeface="Geist Mono"/>
              </a:rPr>
              <a:t>02  AI предлагает темы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F53BB-F024-44A7-A350-F465EA39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36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18087"/>
                </a:solidFill>
                <a:latin typeface="Geist Sans"/>
                <a:ea typeface="Geist Sans"/>
                <a:cs typeface="Geist Sans"/>
              </a:defRPr>
            </a:pPr>
            <a:r>
              <a:rPr sz="1350" b="0">
                <a:solidFill>
                  <a:srgbClr val="718087"/>
                </a:solidFill>
                <a:latin typeface="Geist Sans"/>
                <a:ea typeface="Geist Sans"/>
                <a:cs typeface="Geist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9FBD2-AE99-46CF-A17E-704BD5C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24955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30383E"/>
          </a:solidFill>
          <a:ln xmlns:a="http://schemas.openxmlformats.org/drawingml/2006/main" w="9525">
            <a:solidFill>
              <a:srgbClr val="AFC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B5223-1830-4563-B123-0507AE5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EEE7"/>
                </a:solidFill>
                <a:latin typeface="Geist Mono"/>
                <a:ea typeface="Geist Mono"/>
                <a:cs typeface="Geist Mono"/>
              </a:defRPr>
            </a:pPr>
            <a:r>
              <a:rPr sz="975" b="1">
                <a:solidFill>
                  <a:srgbClr val="F1EEE7"/>
                </a:solidFill>
                <a:latin typeface="Geist Mono"/>
                <a:ea typeface="Geist Mono"/>
                <a:cs typeface="Geist Mono"/>
              </a:rPr>
              <a:t>03  Founder подтверждает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86570-85DF-4E86-8D29-9973A51C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36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18087"/>
                </a:solidFill>
                <a:latin typeface="Geist Sans"/>
                <a:ea typeface="Geist Sans"/>
                <a:cs typeface="Geist Sans"/>
              </a:defRPr>
            </a:pPr>
            <a:r>
              <a:rPr sz="1350" b="0">
                <a:solidFill>
                  <a:srgbClr val="718087"/>
                </a:solidFill>
                <a:latin typeface="Geist Sans"/>
                <a:ea typeface="Geist Sans"/>
                <a:cs typeface="Geist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18966-7B7A-44AA-9951-FC6B8953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352550"/>
            <a:ext cx="24955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293036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3D3B4-97B5-445E-B115-E5829BF8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7AC"/>
                </a:solidFill>
                <a:latin typeface="Geist Mono"/>
                <a:ea typeface="Geist Mono"/>
                <a:cs typeface="Geist Mono"/>
              </a:defRPr>
            </a:pPr>
            <a:r>
              <a:rPr sz="975" b="0">
                <a:solidFill>
                  <a:srgbClr val="9AA7AC"/>
                </a:solidFill>
                <a:latin typeface="Geist Mono"/>
                <a:ea typeface="Geist Mono"/>
                <a:cs typeface="Geist Mono"/>
              </a:rPr>
              <a:t>04  Roadmap и changelog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6A601-9114-4CBD-9CE1-B0FAAC8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239000" cy="3810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30383E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ffa27c7ba4bc7"/>
          <a:srcRect xmlns:a="http://schemas.openxmlformats.org/drawingml/2006/main" l="0" t="9130" r="0" b="9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66950"/>
            <a:ext cx="7010400" cy="3581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CF849-3F95-4EFD-B7B7-091CBD7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1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Inbox сохраняет исходный отзыв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C6EC2-D3BD-4A2F-A89D-413452BE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350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Команда видит источник, охват и состояние анализа. Предложенная тема остаётся рекомендацией, пока founder её не подтвердит.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3B459-DF90-4CAD-9A6E-9EB8C5F4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C34BC-7B08-46EF-B12B-C78D6B12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Решение можно объяснить исходными словами клиента.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5371B-BF86-446E-A739-57D5B99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2139937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A785B-0E8C-4856-8012-6CBC8F78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24BEA-4548-44D9-B93F-ED109B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Signal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E3376-6687-42B9-A1AF-C9B5A7EC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Карта связей между отзывами, темами и решениями показывает доказательства приоритета.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F8CD-50EB-4960-BD1F-50EA497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71685-8983-48BD-B88C-A880B7DE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172450" cy="4743450"/>
          </a:xfrm>
          <a:prstGeom xmlns:a="http://schemas.openxmlformats.org/drawingml/2006/main" prst="roundRect">
            <a:avLst>
              <a:gd name="adj" fmla="val 2008"/>
            </a:avLst>
          </a:prstGeom>
          <a:solidFill xmlns:a="http://schemas.openxmlformats.org/drawingml/2006/main">
            <a:srgbClr val="30383E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785b07761400b"/>
          <a:srcRect xmlns:a="http://schemas.openxmlformats.org/drawingml/2006/main" l="0" t="4532" r="0" b="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66850"/>
            <a:ext cx="7943850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4DA3C-81CB-41C2-B20C-4C67A8FB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57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Geist Mono"/>
                <a:ea typeface="Geist Mono"/>
                <a:cs typeface="Geist Mono"/>
              </a:defRPr>
            </a:pPr>
            <a:r>
              <a:rPr sz="1050" b="1">
                <a:solidFill>
                  <a:srgbClr val="F2C94C"/>
                </a:solidFill>
                <a:latin typeface="Geist Mono"/>
                <a:ea typeface="Geist Mono"/>
                <a:cs typeface="Geist Mono"/>
              </a:rPr>
              <a:t>Пунктир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47E38-7E6A-4664-B062-529A924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42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AI предлагает связь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B9FA6-D468-4E3A-9BCB-23BCAB3A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08FB7-4CF4-47B9-89F6-A9B1F39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105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Сплошная линия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C7F7B-BE80-4517-8805-222D4268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861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42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Founder подтвердил связь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A3B0B-6F29-41A3-9165-E6194698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E7B98-2168-4110-B8BF-ABE48D4A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7B99A"/>
                </a:solidFill>
                <a:latin typeface="Geist Mono"/>
                <a:ea typeface="Geist Mono"/>
                <a:cs typeface="Geist Mono"/>
              </a:defRPr>
            </a:pPr>
            <a:r>
              <a:rPr sz="1050" b="1">
                <a:solidFill>
                  <a:srgbClr val="87B99A"/>
                </a:solidFill>
                <a:latin typeface="Geist Mono"/>
                <a:ea typeface="Geist Mono"/>
                <a:cs typeface="Geist Mono"/>
              </a:rPr>
              <a:t>Главное отличие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939B1-8AC4-46D9-AA09-750B9F7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8150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8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Pulseboard показывает путь решения, а не только закрытый AI-score.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54FED-3EEB-478E-B096-FA0CBDF5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76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Демо-данные вымышлены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43C28-25FB-4130-99BE-9341C5D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979457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44426-D1BC-489C-BE5E-9BA553F1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D0520-BBAC-4CCD-99F4-3BA37203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Первый рынок: небольшие SaaS-команды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4B009-2861-4F27-9924-2B3101E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Начальный сегмент: solo-founders и продуктовые команды до 10 человек.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65B5E-9D58-487B-A07D-C4DCB33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8376-3AA7-4E12-9B5D-E7ADD7B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C94C"/>
                </a:solidFill>
                <a:latin typeface="Geist Sans"/>
                <a:ea typeface="Geist Sans"/>
                <a:cs typeface="Geist Sans"/>
              </a:defRPr>
            </a:pPr>
            <a:r>
              <a:rPr sz="4350" b="1">
                <a:solidFill>
                  <a:srgbClr val="F2C94C"/>
                </a:solidFill>
                <a:latin typeface="Geist Sans"/>
                <a:ea typeface="Geist Sans"/>
                <a:cs typeface="Geist Sans"/>
              </a:rPr>
              <a:t>100K+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23809-AA69-4F93-AE80-4BC24D14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3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зарегистрированных компаний Canny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467DE-1F3C-4ECB-88BA-8B3AA95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24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AFC1C7"/>
                </a:solidFill>
                <a:latin typeface="Geist Sans"/>
                <a:ea typeface="Geist Sans"/>
                <a:cs typeface="Geist Sans"/>
              </a:defRPr>
            </a:pPr>
            <a:r>
              <a:rPr sz="4350" b="1">
                <a:solidFill>
                  <a:srgbClr val="AFC1C7"/>
                </a:solidFill>
                <a:latin typeface="Geist Sans"/>
                <a:ea typeface="Geist Sans"/>
                <a:cs typeface="Geist Sans"/>
              </a:rPr>
              <a:t>6,000+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FAD13-876A-4AA5-9E78-C204504F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3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продуктовых команд доверяют Productboard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D32EF-541D-4BAE-9234-87D1038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87B99A"/>
                </a:solidFill>
                <a:latin typeface="Geist Sans"/>
                <a:ea typeface="Geist Sans"/>
                <a:cs typeface="Geist Sans"/>
              </a:defRPr>
            </a:pPr>
            <a:r>
              <a:rPr sz="4350" b="1">
                <a:solidFill>
                  <a:srgbClr val="87B99A"/>
                </a:solidFill>
                <a:latin typeface="Geist Sans"/>
                <a:ea typeface="Geist Sans"/>
                <a:cs typeface="Geist Sans"/>
              </a:rPr>
              <a:t>0,5%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EE338-731E-428F-BD7D-FA09EA1F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3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от benchmark Canny = цель 500 платящих workspace к третьему году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4F97D-D1D6-46C8-83F5-2424742A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AFE1F-C40F-4065-8ABB-53762F8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105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Для кого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BE7EC-5A77-465D-9E34-69AE3A5F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5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87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Команда уже получает отзывы, но ещё не готова внедрять тяжёлую enterprise-систему.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C6A13-104C-4769-ACBB-2833C7BB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105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Основной сценарий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0EC3E-0BC4-4549-8B56-4BAAB9B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7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SaaS собирает запросы через portal, support, email и интервью. Founder объясняет, почему одна тема попала в roadmap раньше другой.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624E6-AA99-4D4F-BE9B-0726E1D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Показатели компаний не складываются. Они подтверждают наличие спроса на категорию.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E669D-C673-4C33-B009-7630AB3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53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Источники: Canny; Productboard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AB756-AACD-44FF-BD21-0F0103E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921400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583AB-C006-4754-B379-2921B78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BFFFD-DDB8-4FBB-9A3D-C7DC42A8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Конкуренты и отличие Pulseboard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F551-A5DF-4186-8239-6F0A0FEA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Категория уже существует. Pulseboard делает путь решения видимым и оставляет AI под контролем человека.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11C35-BD0A-4F0D-B8DD-79882C1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66850"/>
          <a:ext xmlns:a="http://schemas.openxmlformats.org/drawingml/2006/main" cx="110871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9447"/>
                <a:gridCol w="1654791"/>
                <a:gridCol w="1654791"/>
                <a:gridCol w="1654791"/>
                <a:gridCol w="1489312"/>
                <a:gridCol w="2233968"/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Продукт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Публичный portal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AI темы / дубли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Связь с roadmap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Evidence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Ручное подтверждение AI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Canny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Нет: авто-группировка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Productboard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Частично: ручные links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UserVoice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Частично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 заявлено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Linear Customer Requests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Не применяется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2C94C"/>
                          </a:solidFill>
                          <a:latin typeface="Geist Sans"/>
                          <a:ea typeface="Geist Sans"/>
                          <a:cs typeface="Geist Sans"/>
                        </a:rPr>
                        <a:t>Pulseboard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Да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690B5-0235-446C-A428-77D0E56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8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Pulseboard связывает каждое решение с темами и исходными цитатами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7A65D-189C-4373-A3F1-3CFF8359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388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5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Сравнение функций по официальным страницам продуктов, сентябрь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50EA7-2F52-4CBD-AAF7-0DD0783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1008407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E6AAF-8D29-496C-B52F-B16479B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3A07C-9C21-4312-BEBA-04D30678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Состояние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87694-C999-4283-9FD8-4C03851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Продукт работает. Следующий риск связан не с кодом, а с реальным использованием.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81F0C-2B2A-40CD-ADE9-5DF57B62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D274-4E62-470A-8F2E-281108D2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314950" cy="3219450"/>
          </a:xfrm>
          <a:prstGeom xmlns:a="http://schemas.openxmlformats.org/drawingml/2006/main" prst="roundRect">
            <a:avLst>
              <a:gd name="adj" fmla="val 2959"/>
            </a:avLst>
          </a:prstGeom>
          <a:solidFill xmlns:a="http://schemas.openxmlformats.org/drawingml/2006/main">
            <a:srgbClr val="30383E"/>
          </a:solidFill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6036806fa49f4"/>
          <a:srcRect xmlns:a="http://schemas.openxmlformats.org/drawingml/2006/main" l="0" t="2959" r="0" b="29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43050"/>
            <a:ext cx="5086350" cy="29908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"/>
          <p:cNvGraphicFramePr/>
          <p:nvPr/>
        </p:nvGraphicFramePr>
        <p:xfrm>
          <a:off xmlns:a="http://schemas.openxmlformats.org/drawingml/2006/main" x="6172200" y="1428750"/>
          <a:ext xmlns:a="http://schemas.openxmlformats.org/drawingml/2006/main" cx="546735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2450"/>
                <a:gridCol w="1822450"/>
                <a:gridCol w="1822450"/>
              </a:tblGrid>
              <a:tr h="5365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Готово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Требует пилота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Запланировано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Регистрация и workspace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Онбординг на реальных командах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Billing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Public board, голоса, комментарии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Качество AI suggestions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Email updates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Inbox и CSV import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Готовность платить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Базовые integrations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AI embeddings и темы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Повторное использование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Custom domain</a:t>
                      </a:r>
                    </a:p>
                  </a:txBody>
                  <a:tcPr marL="91440" marR="91440" marT="45720" marB="45720"/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Signal Map, roadmap, changelog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Метрики активации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Расширенная аналитика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0606C-69C4-463C-BA73-48E268E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7B99A"/>
                </a:solidFill>
                <a:latin typeface="Geist Sans"/>
                <a:ea typeface="Geist Sans"/>
                <a:cs typeface="Geist Sans"/>
              </a:defRPr>
            </a:pPr>
            <a:r>
              <a:rPr sz="1875" b="1">
                <a:solidFill>
                  <a:srgbClr val="87B99A"/>
                </a:solidFill>
                <a:latin typeface="Geist Sans"/>
                <a:ea typeface="Geist Sans"/>
                <a:cs typeface="Geist Sans"/>
              </a:rPr>
              <a:t>Демо открывается без регистрации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E80D5-E052-4FED-9C23-4877F97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2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На скриншотах и в демо используются вымышленные данные. Реальных пользователей и выручки пока нет.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73DD9-54A5-4494-9F93-C3490D1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949368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BE3DD-FC0B-4777-82F1-387ECDB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BC1C4-74BD-483E-BC15-9843DA61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Ценовая гипотеза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5BBCD-E9E7-46A0-AB05-4583E61B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Тарифы проверяются на пилотах. Они не являются действующим предложением.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CD75C-7008-4D8C-B555-3EE233E1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29"/>
                <a:gridCol w="2671590"/>
                <a:gridCol w="2671590"/>
                <a:gridCol w="2671590"/>
              </a:tblGrid>
              <a:tr h="5556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Free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Starter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Pro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Цена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$0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2C94C"/>
                          </a:solidFill>
                          <a:latin typeface="Geist Sans"/>
                          <a:ea typeface="Geist Sans"/>
                          <a:cs typeface="Geist Sans"/>
                        </a:rPr>
                        <a:t>$19 / месяц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$49 / месяц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Команда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1 workspace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3 editor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10 editor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Сбор отзывов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Публичная доска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Доска + CSV import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Доска + integrations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Ограниченный анализ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Themes и duplicates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Расширенная аналитика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Планирование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Базовый roadmap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Roadmap + changelog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Custom domain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6EDB7-5072-4B7E-B40E-5837E5F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Ориентир категории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7132B-1B12-4B50-BBDB-96AB1EA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6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Canny Pro: $79 / месяц при годовой оплате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ADFD1-CB4B-49E2-A900-F7C5AAC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8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200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Это внешний ценовой benchmark, а не прямой эквивалент Pulseboard.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2B538-8A21-4487-A6EF-C7B618A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297178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D2D2D-EC8E-4AD8-9635-2A9F202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CD149-FB4E-44C6-A858-4C3F167E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Финансовая модель на три года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5AD21-F383-4278-B2A8-D4C19D4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Предварительный сценарий до налогов. Все значения являются гипотезами.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38F59-DC22-409C-8E62-9843B999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a64a5622a14bdc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486650" y="1524000"/>
          <a:ext xmlns:a="http://schemas.openxmlformats.org/drawingml/2006/main" cx="4152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4556"/>
                <a:gridCol w="803787"/>
                <a:gridCol w="803787"/>
                <a:gridCol w="870769"/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Показатель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Год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Год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Год 3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Платящие workspace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150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500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ARPA / месяц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$29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ARR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$6,840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$45,000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$174,000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Операционные расходы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$5,000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$36,000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F1EEE7"/>
                          </a:solidFill>
                          <a:latin typeface="Geist Sans"/>
                          <a:ea typeface="Geist Sans"/>
                          <a:cs typeface="Geist Sans"/>
                        </a:rPr>
                        <a:t>$132,000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AFC1C7"/>
                          </a:solidFill>
                          <a:latin typeface="Geist Sans"/>
                          <a:ea typeface="Geist Sans"/>
                          <a:cs typeface="Geist Sans"/>
                        </a:rPr>
                        <a:t>Результат до налогов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87B99A"/>
                          </a:solidFill>
                          <a:latin typeface="Geist Sans"/>
                          <a:ea typeface="Geist Sans"/>
                          <a:cs typeface="Geist Sans"/>
                        </a:rPr>
                        <a:t>$1,840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87B99A"/>
                          </a:solidFill>
                          <a:latin typeface="Geist Sans"/>
                          <a:ea typeface="Geist Sans"/>
                          <a:cs typeface="Geist Sans"/>
                        </a:rPr>
                        <a:t>$9,000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87B99A"/>
                          </a:solidFill>
                          <a:latin typeface="Geist Sans"/>
                          <a:ea typeface="Geist Sans"/>
                          <a:cs typeface="Geist Sans"/>
                        </a:rPr>
                        <a:t>$42,000</a:t>
                      </a:r>
                    </a:p>
                  </a:txBody>
                  <a:tcPr marL="91440" marR="91440" marT="45720" marB="45720">
                    <a:solidFill>
                      <a:srgbClr val="30383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5981C-EFFD-4A94-896C-2553247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EEE7"/>
                </a:solidFill>
                <a:latin typeface="Geist Mono"/>
                <a:ea typeface="Geist Mono"/>
                <a:cs typeface="Geist Mono"/>
              </a:defRPr>
            </a:pPr>
            <a:r>
              <a:rPr sz="1125" b="1">
                <a:solidFill>
                  <a:srgbClr val="F1EEE7"/>
                </a:solidFill>
                <a:latin typeface="Geist Mono"/>
                <a:ea typeface="Geist Mono"/>
                <a:cs typeface="Geist Mono"/>
              </a:rPr>
              <a:t>Формула: платящие workspace × средний доход с workspace 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0000A-AAEB-4BCF-B9B7-41D231C0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Расходы годов 2–3 включают продвижение, инфраструктуру, compensation founder-а и помощь подрядчиков.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28061-D59A-4B07-8EC7-AE3F796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515642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B98B1-0678-4AC2-9C61-4959F3EE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B85BA-B97E-4924-AAB4-35DF9692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1045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Roadmap проверки гипотез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B01F5-5F06-43F4-8138-E9A6B58A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1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Следующие этапы измеряются интервью, пилотами и платящими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C05F9-90F8-4ECB-A65D-6FBDAC04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26473-9FCC-4999-AF00-F8B88309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651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BA4C7-53C0-449A-ADD7-A0FD2134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D941C-C521-497A-B6FD-8A89CED0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C94C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F2C94C"/>
                </a:solidFill>
                <a:latin typeface="Geist Mono"/>
                <a:ea typeface="Geist Mono"/>
                <a:cs typeface="Geist Mono"/>
              </a:rPr>
              <a:t>СЕН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1DD74-FB2E-4817-AC9C-C6551A9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Стабильный RU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BE315-1229-4636-9C3B-07428F58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Русские маршруты, demo и конкурсные материалы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DB89B-2D5D-4AA3-8BF0-2C9C35D3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C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60262-B788-4A0E-B06D-017BF306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52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ОКТ–НОЯ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D0E5B-09EE-422B-B997-234CDB6A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766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3 бесплатных пилота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31E84-F8D1-4D6E-9AAA-D2747981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291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10–15 интервью с founders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6DBE4-6C5C-4200-B8D8-C04F5F0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C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30501-A909-4AAE-B841-4FB0C66C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ДЕК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B4BD9-CE64-4F04-A76B-0464423C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Контур активации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AC4DE-C2F1-468E-A374-235CAAB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Email updates, onboarding и usage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25400-AF6C-41C7-A495-4DDD678F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C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05F6A-33C4-40D6-B8CD-FBD481FC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Q1 2027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ADD93-F5BC-4AA5-B5D4-3E9FFD3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766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Первые оплаты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21A5A-782A-4009-9E1B-BA4F0EC1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291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Billing и базовые 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07420-54A3-4D01-93B7-80ECFECE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67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C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7FC15-C665-40BD-88DA-5B4B9C9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Q2–Q4 2027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9345D-AE99-4472-B7E2-8BCB768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30 платящих команд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C4782-00A7-4779-BF85-AF131772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Проверка аналитики и Pro-тарифа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E746B-776C-419C-853B-393E511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7B99A"/>
                </a:solidFill>
                <a:latin typeface="Geist Mono"/>
                <a:ea typeface="Geist Mono"/>
                <a:cs typeface="Geist Mono"/>
              </a:defRPr>
            </a:pPr>
            <a:r>
              <a:rPr sz="825" b="1">
                <a:solidFill>
                  <a:srgbClr val="87B99A"/>
                </a:solidFill>
                <a:latin typeface="Geist Mono"/>
                <a:ea typeface="Geist Mono"/>
                <a:cs typeface="Geist Mono"/>
              </a:rPr>
              <a:t>Критерий 2027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AC507-E27C-443D-9389-11E66CE8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19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30 команд регулярно используют продукт и подтверждают ценность оплатой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B11AE-AB6C-48D5-AB4D-AC39C66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ATOM Startup Day 2026</a:t>
            </a:r>
          </a:p>
        </p:txBody>
      </p:sp>
    </p:spTree>
    <p:extLst>
      <p:ext uri="{BB962C8B-B14F-4D97-AF65-F5344CB8AC3E}">
        <p14:creationId xmlns:p14="http://schemas.microsoft.com/office/powerpoint/2010/main" val="923607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2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49AA0-8DE6-4EC7-BD66-C0BC14D0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83D40-6334-481A-B7A4-D4C17805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4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Команда и следующий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CB4E4-05A4-41DE-A1DD-C65E907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F54D0-20C4-4DDE-A22A-C6C057DD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390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Арсений Козел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0F6E4-5DFC-41C4-B77D-ADD3E7F2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FC1C7"/>
                </a:solidFill>
                <a:latin typeface="Geist Sans"/>
                <a:ea typeface="Geist Sans"/>
                <a:cs typeface="Geist Sans"/>
              </a:defRPr>
            </a:pPr>
            <a:r>
              <a:rPr sz="1500" b="1">
                <a:solidFill>
                  <a:srgbClr val="AFC1C7"/>
                </a:solidFill>
                <a:latin typeface="Geist Sans"/>
                <a:ea typeface="Geist Sans"/>
                <a:cs typeface="Geist Sans"/>
              </a:rPr>
              <a:t>Автор проекта и full-stack разработчик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9490F-7431-4C88-ADAB-08FCBF3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142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Самостоятельно спроектировал UX/UI, frontend, backend, AI pipeline и deployment Pulseboard. До проекта делал небольшие сайты и скрипты для личных задач.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4C452-D8E8-47A4-AFBB-3BA9E58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94C"/>
                </a:solidFill>
                <a:latin typeface="Geist Mono"/>
                <a:ea typeface="Geist Mono"/>
                <a:cs typeface="Geist Mono"/>
              </a:defRPr>
            </a:pPr>
            <a:r>
              <a:rPr sz="975" b="1">
                <a:solidFill>
                  <a:srgbClr val="F2C94C"/>
                </a:solidFill>
                <a:latin typeface="Geist Mono"/>
                <a:ea typeface="Geist Mono"/>
                <a:cs typeface="Geist Mono"/>
              </a:rPr>
              <a:t>Цель участия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F552B-579E-4623-AE0B-D481BF10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02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Экспертная обратная связь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40E9B-B553-4557-B17E-59301D47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02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3 пилотные команды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AAB00-C9BB-4291-93A8-64BFF3B6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025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Проверка готовности founders платить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D1B48-FEF5-43C7-B4D9-FA0FE3E3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B9838-45AA-4060-BE51-16159C4D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1EEE7"/>
                </a:solidFill>
                <a:latin typeface="Geist Sans"/>
                <a:ea typeface="Geist Sans"/>
                <a:cs typeface="Geist Sans"/>
              </a:defRPr>
            </a:pPr>
            <a:r>
              <a:rPr sz="2250" b="1">
                <a:solidFill>
                  <a:srgbClr val="F1EEE7"/>
                </a:solidFill>
                <a:latin typeface="Geist Sans"/>
                <a:ea typeface="Geist Sans"/>
                <a:cs typeface="Geist Sans"/>
              </a:rPr>
              <a:t>Открыть работающий 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8F7EA-61E4-4032-9A23-B37C237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7B99A"/>
                </a:solidFill>
                <a:latin typeface="Geist Mono"/>
                <a:ea typeface="Geist Mono"/>
                <a:cs typeface="Geist Mono"/>
              </a:defRPr>
            </a:pPr>
            <a:r>
              <a:rPr sz="1350" b="1">
                <a:solidFill>
                  <a:srgbClr val="87B99A"/>
                </a:solidFill>
                <a:latin typeface="Geist Mono"/>
                <a:ea typeface="Geist Mono"/>
                <a:cs typeface="Geist Mono"/>
              </a:rPr>
              <a:t>pulseboard.sevadeva.tech/ru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F7C03-EFF4-4D04-8B69-D046466B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defRPr>
            </a:pPr>
            <a:r>
              <a:rPr sz="900" b="1">
                <a:solidFill>
                  <a:srgbClr val="AFC1C7"/>
                </a:solidFill>
                <a:latin typeface="Geist Mono"/>
                <a:ea typeface="Geist Mono"/>
                <a:cs typeface="Geist Mono"/>
              </a:rPr>
              <a:t>Telegram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FB2C7-1CD2-4C20-8B19-7086198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4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94C"/>
                </a:solidFill>
                <a:latin typeface="Geist Mono"/>
                <a:ea typeface="Geist Mono"/>
                <a:cs typeface="Geist Mono"/>
              </a:defRPr>
            </a:pPr>
            <a:r>
              <a:rPr sz="1800" b="1">
                <a:solidFill>
                  <a:srgbClr val="F2C94C"/>
                </a:solidFill>
                <a:latin typeface="Geist Mono"/>
                <a:ea typeface="Geist Mono"/>
                <a:cs typeface="Geist Mono"/>
              </a:rPr>
              <a:t>@Babushkaspa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B0431-F8B6-4074-9D04-4ADA928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24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defRPr>
            </a:pPr>
            <a:r>
              <a:rPr sz="975" b="0">
                <a:solidFill>
                  <a:srgbClr val="9AA7AC"/>
                </a:solidFill>
                <a:latin typeface="Geist Sans"/>
                <a:ea typeface="Geist Sans"/>
                <a:cs typeface="Geist Sans"/>
              </a:rPr>
              <a:t>БГТУ · 2 курс · Минск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9D4A9-8A2C-49CD-82DB-8474CD5A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defRPr>
            </a:pPr>
            <a:r>
              <a:rPr sz="675" b="0">
                <a:solidFill>
                  <a:srgbClr val="718087"/>
                </a:solidFill>
                <a:latin typeface="Geist Mono"/>
                <a:ea typeface="Geist Mono"/>
                <a:cs typeface="Geist Mono"/>
              </a:rPr>
              <a:t>Pulseboard · 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2986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2026-09-14T18:31:19.3090000Z</dcterms:created>
  <dcterms:modified xsi:type="dcterms:W3CDTF">2026-09-14T18:31:19.3090000Z</dcterms:modified>
</coreProperties>
</file>